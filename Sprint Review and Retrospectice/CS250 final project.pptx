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90952-C661-49D5-A867-F92103F45222}" v="1699" dt="2026-04-18T05:50:28.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rum.org/resources/accountability-responsibility-and-roles" TargetMode="Externa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hyperlink" Target="https://www.wrike.com/agile-guide/agile-vs-waterfall/" TargetMode="External"/><Relationship Id="rId5" Type="http://schemas.openxmlformats.org/officeDocument/2006/relationships/hyperlink" Target="https://www.geeksforgeeks.org/software-engineering/waterfall-model/" TargetMode="External"/><Relationship Id="rId4" Type="http://schemas.openxmlformats.org/officeDocument/2006/relationships/hyperlink" Target="https://www.mendix.com/blog/agile-software-development-lifecycle-stag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5653"/>
            <a:ext cx="9144000" cy="2387600"/>
          </a:xfrm>
        </p:spPr>
        <p:txBody>
          <a:bodyPr/>
          <a:lstStyle/>
          <a:p>
            <a:r>
              <a:rPr lang="en-US" dirty="0">
                <a:solidFill>
                  <a:schemeClr val="bg1"/>
                </a:solidFill>
              </a:rPr>
              <a:t>CS 250 Final </a:t>
            </a:r>
            <a:r>
              <a:rPr lang="en-US">
                <a:solidFill>
                  <a:schemeClr val="bg1"/>
                </a:solidFill>
              </a:rPr>
              <a:t>Project</a:t>
            </a:r>
            <a:endParaRPr lang="en-US" dirty="0">
              <a:solidFill>
                <a:schemeClr val="bg1"/>
              </a:solidFill>
            </a:endParaRPr>
          </a:p>
        </p:txBody>
      </p:sp>
      <p:sp>
        <p:nvSpPr>
          <p:cNvPr id="3" name="Subtitle 2"/>
          <p:cNvSpPr>
            <a:spLocks noGrp="1"/>
          </p:cNvSpPr>
          <p:nvPr>
            <p:ph type="subTitle" idx="1"/>
          </p:nvPr>
        </p:nvSpPr>
        <p:spPr>
          <a:xfrm>
            <a:off x="1393658" y="5346616"/>
            <a:ext cx="9144000" cy="1655762"/>
          </a:xfrm>
        </p:spPr>
        <p:txBody>
          <a:bodyPr vert="horz" lIns="91440" tIns="45720" rIns="91440" bIns="45720" rtlCol="0" anchor="t">
            <a:normAutofit/>
          </a:bodyPr>
          <a:lstStyle/>
          <a:p>
            <a:r>
              <a:rPr lang="en-US">
                <a:solidFill>
                  <a:schemeClr val="bg1"/>
                </a:solidFill>
              </a:rPr>
              <a:t>Kris Ferguson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t="-15000" b="-15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389A-2CC4-259D-3E81-28FD8823DBDD}"/>
              </a:ext>
            </a:extLst>
          </p:cNvPr>
          <p:cNvSpPr>
            <a:spLocks noGrp="1"/>
          </p:cNvSpPr>
          <p:nvPr>
            <p:ph type="title"/>
          </p:nvPr>
        </p:nvSpPr>
        <p:spPr/>
        <p:txBody>
          <a:bodyPr/>
          <a:lstStyle/>
          <a:p>
            <a:r>
              <a:rPr lang="en-US">
                <a:solidFill>
                  <a:schemeClr val="bg1"/>
                </a:solidFill>
              </a:rPr>
              <a:t>Agile Roles</a:t>
            </a:r>
          </a:p>
        </p:txBody>
      </p:sp>
      <p:sp>
        <p:nvSpPr>
          <p:cNvPr id="3" name="Content Placeholder 2">
            <a:extLst>
              <a:ext uri="{FF2B5EF4-FFF2-40B4-BE49-F238E27FC236}">
                <a16:creationId xmlns:a16="http://schemas.microsoft.com/office/drawing/2014/main" id="{CF617EFA-5B34-5917-924D-C421AA449139}"/>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v"/>
            </a:pPr>
            <a:r>
              <a:rPr lang="en-US">
                <a:solidFill>
                  <a:schemeClr val="bg1"/>
                </a:solidFill>
              </a:rPr>
              <a:t> Product Owner- Provide clear communication between clients and team. Set clear pass/fail criteria. Maximize value for client (1).</a:t>
            </a:r>
            <a:endParaRPr lang="en-US" dirty="0">
              <a:solidFill>
                <a:schemeClr val="bg1"/>
              </a:solidFill>
            </a:endParaRPr>
          </a:p>
          <a:p>
            <a:pPr>
              <a:buFont typeface="Wingdings" panose="020B0604020202020204" pitchFamily="34" charset="0"/>
              <a:buChar char="v"/>
            </a:pPr>
            <a:r>
              <a:rPr lang="en-US" dirty="0">
                <a:solidFill>
                  <a:schemeClr val="bg1"/>
                </a:solidFill>
              </a:rPr>
              <a:t>  Scrum Master- Takes charge of the team. Collaborates with the Product Owner to ensur</a:t>
            </a:r>
            <a:r>
              <a:rPr lang="en-US">
                <a:solidFill>
                  <a:schemeClr val="bg1"/>
                </a:solidFill>
              </a:rPr>
              <a:t>e team has tools needed for success. Manage productivity vs burnout (1).</a:t>
            </a:r>
            <a:endParaRPr lang="en-US" dirty="0">
              <a:solidFill>
                <a:schemeClr val="bg1"/>
              </a:solidFill>
            </a:endParaRPr>
          </a:p>
          <a:p>
            <a:pPr>
              <a:buFont typeface="Wingdings" panose="020B0604020202020204" pitchFamily="34" charset="0"/>
              <a:buChar char="v"/>
            </a:pPr>
            <a:r>
              <a:rPr lang="en-US">
                <a:solidFill>
                  <a:schemeClr val="bg1"/>
                </a:solidFill>
              </a:rPr>
              <a:t> Developer- Provide efficient, functional, workable product through each sprint. Utilize review and retrospective to enhance future sprints (1).</a:t>
            </a:r>
            <a:endParaRPr lang="en-US" dirty="0">
              <a:solidFill>
                <a:schemeClr val="bg1"/>
              </a:solidFill>
            </a:endParaRPr>
          </a:p>
          <a:p>
            <a:pPr>
              <a:buFont typeface="Wingdings" panose="020B0604020202020204" pitchFamily="34" charset="0"/>
              <a:buChar char="v"/>
            </a:pPr>
            <a:r>
              <a:rPr lang="en-US" dirty="0">
                <a:solidFill>
                  <a:schemeClr val="bg1"/>
                </a:solidFill>
              </a:rPr>
              <a:t>  Tester- Take chunks of code provided by Dev team and test for bugs and </a:t>
            </a:r>
            <a:r>
              <a:rPr lang="en-US">
                <a:solidFill>
                  <a:schemeClr val="bg1"/>
                </a:solidFill>
              </a:rPr>
              <a:t>edge cases (1).</a:t>
            </a:r>
          </a:p>
        </p:txBody>
      </p:sp>
    </p:spTree>
    <p:extLst>
      <p:ext uri="{BB962C8B-B14F-4D97-AF65-F5344CB8AC3E}">
        <p14:creationId xmlns:p14="http://schemas.microsoft.com/office/powerpoint/2010/main" val="78743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6217E-FD16-7FAD-6084-07CC955EA22C}"/>
              </a:ext>
            </a:extLst>
          </p:cNvPr>
          <p:cNvSpPr>
            <a:spLocks noGrp="1"/>
          </p:cNvSpPr>
          <p:nvPr>
            <p:ph type="title"/>
          </p:nvPr>
        </p:nvSpPr>
        <p:spPr/>
        <p:txBody>
          <a:bodyPr/>
          <a:lstStyle/>
          <a:p>
            <a:r>
              <a:rPr lang="en-US">
                <a:solidFill>
                  <a:schemeClr val="bg1"/>
                </a:solidFill>
              </a:rPr>
              <a:t>Agile Phases</a:t>
            </a:r>
          </a:p>
        </p:txBody>
      </p:sp>
      <p:sp>
        <p:nvSpPr>
          <p:cNvPr id="3" name="Content Placeholder 2">
            <a:extLst>
              <a:ext uri="{FF2B5EF4-FFF2-40B4-BE49-F238E27FC236}">
                <a16:creationId xmlns:a16="http://schemas.microsoft.com/office/drawing/2014/main" id="{A1C14958-6517-99D7-620F-D3DF5F6ED66B}"/>
              </a:ext>
            </a:extLst>
          </p:cNvPr>
          <p:cNvSpPr>
            <a:spLocks noGrp="1"/>
          </p:cNvSpPr>
          <p:nvPr>
            <p:ph idx="1"/>
          </p:nvPr>
        </p:nvSpPr>
        <p:spPr/>
        <p:txBody>
          <a:bodyPr vert="horz" lIns="91440" tIns="45720" rIns="91440" bIns="45720" rtlCol="0" anchor="t">
            <a:normAutofit/>
          </a:bodyPr>
          <a:lstStyle/>
          <a:p>
            <a:r>
              <a:rPr lang="en-US" dirty="0">
                <a:solidFill>
                  <a:schemeClr val="bg1"/>
                </a:solidFill>
              </a:rPr>
              <a:t>Ideation- Defining purpose and goal, prioritizing tasks, allocating resources (2). </a:t>
            </a:r>
          </a:p>
          <a:p>
            <a:r>
              <a:rPr lang="en-US">
                <a:solidFill>
                  <a:schemeClr val="bg1"/>
                </a:solidFill>
              </a:rPr>
              <a:t>Development- UI/UX design, architecting, coding, all related tasks of SDLC (2).</a:t>
            </a:r>
            <a:endParaRPr lang="en-US" dirty="0">
              <a:solidFill>
                <a:schemeClr val="bg1"/>
              </a:solidFill>
            </a:endParaRPr>
          </a:p>
          <a:p>
            <a:r>
              <a:rPr lang="en-US">
                <a:solidFill>
                  <a:schemeClr val="bg1"/>
                </a:solidFill>
              </a:rPr>
              <a:t>Testing- Final testing, troubleshooting, trial runs (2).</a:t>
            </a:r>
            <a:endParaRPr lang="en-US" dirty="0">
              <a:solidFill>
                <a:schemeClr val="bg1"/>
              </a:solidFill>
            </a:endParaRPr>
          </a:p>
          <a:p>
            <a:r>
              <a:rPr lang="en-US" dirty="0">
                <a:solidFill>
                  <a:schemeClr val="bg1"/>
                </a:solidFill>
              </a:rPr>
              <a:t>Deployment- Deployment of software, product is now live and </a:t>
            </a:r>
            <a:r>
              <a:rPr lang="en-US">
                <a:solidFill>
                  <a:schemeClr val="bg1"/>
                </a:solidFill>
              </a:rPr>
              <a:t>accessible to customers (2).</a:t>
            </a:r>
          </a:p>
          <a:p>
            <a:r>
              <a:rPr lang="en-US" dirty="0">
                <a:solidFill>
                  <a:schemeClr val="bg1"/>
                </a:solidFill>
              </a:rPr>
              <a:t>Operations- Ongoing maintenance to keep software relevant and </a:t>
            </a:r>
            <a:r>
              <a:rPr lang="en-US">
                <a:solidFill>
                  <a:schemeClr val="bg1"/>
                </a:solidFill>
              </a:rPr>
              <a:t>error-free (2).</a:t>
            </a:r>
            <a:endParaRPr lang="en-US" dirty="0">
              <a:solidFill>
                <a:schemeClr val="bg1"/>
              </a:solidFill>
            </a:endParaRPr>
          </a:p>
        </p:txBody>
      </p:sp>
    </p:spTree>
    <p:extLst>
      <p:ext uri="{BB962C8B-B14F-4D97-AF65-F5344CB8AC3E}">
        <p14:creationId xmlns:p14="http://schemas.microsoft.com/office/powerpoint/2010/main" val="345733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EBB5E-83FF-DEB7-FB4A-CA79744B4C80}"/>
              </a:ext>
            </a:extLst>
          </p:cNvPr>
          <p:cNvSpPr>
            <a:spLocks noGrp="1"/>
          </p:cNvSpPr>
          <p:nvPr>
            <p:ph type="title"/>
          </p:nvPr>
        </p:nvSpPr>
        <p:spPr/>
        <p:txBody>
          <a:bodyPr/>
          <a:lstStyle/>
          <a:p>
            <a:r>
              <a:rPr lang="en-US">
                <a:solidFill>
                  <a:schemeClr val="bg1"/>
                </a:solidFill>
              </a:rPr>
              <a:t>Waterfall</a:t>
            </a:r>
          </a:p>
        </p:txBody>
      </p:sp>
      <p:sp>
        <p:nvSpPr>
          <p:cNvPr id="3" name="Content Placeholder 2">
            <a:extLst>
              <a:ext uri="{FF2B5EF4-FFF2-40B4-BE49-F238E27FC236}">
                <a16:creationId xmlns:a16="http://schemas.microsoft.com/office/drawing/2014/main" id="{5F01F355-367E-CAC8-F165-9216F8CEF96A}"/>
              </a:ext>
            </a:extLst>
          </p:cNvPr>
          <p:cNvSpPr>
            <a:spLocks noGrp="1"/>
          </p:cNvSpPr>
          <p:nvPr>
            <p:ph idx="1"/>
          </p:nvPr>
        </p:nvSpPr>
        <p:spPr/>
        <p:txBody>
          <a:bodyPr vert="horz" lIns="91440" tIns="45720" rIns="91440" bIns="45720" rtlCol="0" anchor="t">
            <a:normAutofit lnSpcReduction="10000"/>
          </a:bodyPr>
          <a:lstStyle/>
          <a:p>
            <a:pPr marL="0" indent="0">
              <a:buNone/>
            </a:pPr>
            <a:endParaRPr lang="en-US" dirty="0">
              <a:solidFill>
                <a:schemeClr val="bg1"/>
              </a:solidFill>
            </a:endParaRPr>
          </a:p>
          <a:p>
            <a:pPr marL="0" indent="0">
              <a:buNone/>
            </a:pPr>
            <a:r>
              <a:rPr lang="en-US">
                <a:solidFill>
                  <a:schemeClr val="bg1"/>
                </a:solidFill>
              </a:rPr>
              <a:t>Traditional, linear software development approach where each </a:t>
            </a:r>
            <a:r>
              <a:rPr lang="en-US" dirty="0">
                <a:solidFill>
                  <a:schemeClr val="bg1"/>
                </a:solidFill>
              </a:rPr>
              <a:t>phase must be completed before the next phase can begin. No backtracking and only minimal changes once phase is completed (3). This approach would have been in direct conflict with the SNHU Travel project as we experienced a changing client requirement during the development of the project. The client initially wanted the list of Top 5 Destinations and after development of that stage the client requirement changed to, essentially, the Top 5 Wellness Retreats. Waterfall would not have been as </a:t>
            </a:r>
            <a:r>
              <a:rPr lang="en-US">
                <a:solidFill>
                  <a:schemeClr val="bg1"/>
                </a:solidFill>
              </a:rPr>
              <a:t>adaptable to this change.</a:t>
            </a:r>
            <a:endParaRPr lang="en-US" dirty="0">
              <a:solidFill>
                <a:schemeClr val="bg1"/>
              </a:solidFill>
            </a:endParaRPr>
          </a:p>
        </p:txBody>
      </p:sp>
    </p:spTree>
    <p:extLst>
      <p:ext uri="{BB962C8B-B14F-4D97-AF65-F5344CB8AC3E}">
        <p14:creationId xmlns:p14="http://schemas.microsoft.com/office/powerpoint/2010/main" val="1027670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59D8-C7E1-7D8B-59B7-9FED348ED886}"/>
              </a:ext>
            </a:extLst>
          </p:cNvPr>
          <p:cNvSpPr>
            <a:spLocks noGrp="1"/>
          </p:cNvSpPr>
          <p:nvPr>
            <p:ph type="title"/>
          </p:nvPr>
        </p:nvSpPr>
        <p:spPr/>
        <p:txBody>
          <a:bodyPr/>
          <a:lstStyle/>
          <a:p>
            <a:r>
              <a:rPr lang="en-US">
                <a:solidFill>
                  <a:schemeClr val="bg1"/>
                </a:solidFill>
              </a:rPr>
              <a:t>Waterfall vs Agile</a:t>
            </a:r>
          </a:p>
        </p:txBody>
      </p:sp>
      <p:sp>
        <p:nvSpPr>
          <p:cNvPr id="3" name="Content Placeholder 2">
            <a:extLst>
              <a:ext uri="{FF2B5EF4-FFF2-40B4-BE49-F238E27FC236}">
                <a16:creationId xmlns:a16="http://schemas.microsoft.com/office/drawing/2014/main" id="{FB6279CA-789F-AD4F-1DF4-AD44626857FA}"/>
              </a:ext>
            </a:extLst>
          </p:cNvPr>
          <p:cNvSpPr>
            <a:spLocks noGrp="1"/>
          </p:cNvSpPr>
          <p:nvPr>
            <p:ph idx="1"/>
          </p:nvPr>
        </p:nvSpPr>
        <p:spPr/>
        <p:txBody>
          <a:bodyPr vert="horz" lIns="91440" tIns="45720" rIns="91440" bIns="45720" rtlCol="0" anchor="t">
            <a:normAutofit fontScale="92500" lnSpcReduction="20000"/>
          </a:bodyPr>
          <a:lstStyle/>
          <a:p>
            <a:pPr marL="0" indent="0">
              <a:buNone/>
            </a:pPr>
            <a:endParaRPr lang="en-US" dirty="0">
              <a:solidFill>
                <a:schemeClr val="bg1"/>
              </a:solidFill>
            </a:endParaRPr>
          </a:p>
          <a:p>
            <a:pPr marL="0" indent="0">
              <a:buNone/>
            </a:pPr>
            <a:r>
              <a:rPr lang="en-US">
                <a:solidFill>
                  <a:schemeClr val="bg1"/>
                </a:solidFill>
              </a:rPr>
              <a:t>Waterfall is like taking a journey on a train, it's fixed to its track, and </a:t>
            </a:r>
            <a:r>
              <a:rPr lang="en-US" dirty="0">
                <a:solidFill>
                  <a:schemeClr val="bg1"/>
                </a:solidFill>
              </a:rPr>
              <a:t>barring any fatal flaw it will stay on that track. Agile is like wanting to go on a journey but keep adjusting the course based on the sites you pass along the way. While Waterfall is generally considered outdated against Agile, the two are not rivals, they both have their own intended use-cases. Waterfall still works well for things where compliance targets are fixed, the cost of change is high, and projects with well-defined phases. Agile excels in environments when requirements are apt to change based on the latest information or progress/intent of rival companies. Agile works better for Software Engineering in today's environment because the speed of change is increasingly high and the framework to </a:t>
            </a:r>
            <a:r>
              <a:rPr lang="en-US">
                <a:solidFill>
                  <a:schemeClr val="bg1"/>
                </a:solidFill>
              </a:rPr>
              <a:t>develop must be able to adapt at the same speed (4).</a:t>
            </a:r>
            <a:endParaRPr lang="en-US" dirty="0">
              <a:solidFill>
                <a:schemeClr val="bg1"/>
              </a:solidFill>
            </a:endParaRPr>
          </a:p>
        </p:txBody>
      </p:sp>
    </p:spTree>
    <p:extLst>
      <p:ext uri="{BB962C8B-B14F-4D97-AF65-F5344CB8AC3E}">
        <p14:creationId xmlns:p14="http://schemas.microsoft.com/office/powerpoint/2010/main" val="217497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t="-8000" b="-8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C1DA-73F5-BC82-7746-89EBC4942A1F}"/>
              </a:ext>
            </a:extLst>
          </p:cNvPr>
          <p:cNvSpPr>
            <a:spLocks noGrp="1"/>
          </p:cNvSpPr>
          <p:nvPr>
            <p:ph type="title"/>
          </p:nvPr>
        </p:nvSpPr>
        <p:spPr/>
        <p:txBody>
          <a:bodyPr/>
          <a:lstStyle/>
          <a:p>
            <a:r>
              <a:rPr lang="en-US">
                <a:solidFill>
                  <a:schemeClr val="bg1"/>
                </a:solidFill>
              </a:rPr>
              <a:t>References</a:t>
            </a:r>
          </a:p>
        </p:txBody>
      </p:sp>
      <p:sp>
        <p:nvSpPr>
          <p:cNvPr id="3" name="Content Placeholder 2">
            <a:extLst>
              <a:ext uri="{FF2B5EF4-FFF2-40B4-BE49-F238E27FC236}">
                <a16:creationId xmlns:a16="http://schemas.microsoft.com/office/drawing/2014/main" id="{3138F999-85C9-0655-836E-7A618D8A61F2}"/>
              </a:ext>
            </a:extLst>
          </p:cNvPr>
          <p:cNvSpPr>
            <a:spLocks noGrp="1"/>
          </p:cNvSpPr>
          <p:nvPr>
            <p:ph idx="1"/>
          </p:nvPr>
        </p:nvSpPr>
        <p:spPr/>
        <p:txBody>
          <a:bodyPr vert="horz" lIns="91440" tIns="45720" rIns="91440" bIns="45720" rtlCol="0" anchor="t">
            <a:normAutofit fontScale="92500" lnSpcReduction="20000"/>
          </a:bodyPr>
          <a:lstStyle/>
          <a:p>
            <a:pPr marL="514350" indent="-514350">
              <a:buAutoNum type="arabicPeriod"/>
            </a:pPr>
            <a:endParaRPr lang="en-US" dirty="0">
              <a:solidFill>
                <a:schemeClr val="bg1"/>
              </a:solidFill>
            </a:endParaRPr>
          </a:p>
          <a:p>
            <a:pPr marL="514350" indent="-514350">
              <a:buAutoNum type="arabicPeriod"/>
            </a:pPr>
            <a:r>
              <a:rPr lang="en-US">
                <a:solidFill>
                  <a:schemeClr val="bg1"/>
                </a:solidFill>
              </a:rPr>
              <a:t>"Accountability, Responsibilities, and Roles." October 23, 2023. </a:t>
            </a:r>
            <a:r>
              <a:rPr lang="en-US" dirty="0">
                <a:solidFill>
                  <a:schemeClr val="bg1"/>
                </a:solidFill>
                <a:ea typeface="+mn-lt"/>
                <a:cs typeface="+mn-lt"/>
                <a:hlinkClick r:id="rId3">
                  <a:extLst>
                    <a:ext uri="{A12FA001-AC4F-418D-AE19-62706E023703}">
                      <ahyp:hlinkClr xmlns:ahyp="http://schemas.microsoft.com/office/drawing/2018/hyperlinkcolor" val="tx"/>
                    </a:ext>
                  </a:extLst>
                </a:hlinkClick>
              </a:rPr>
              <a:t>https://www.scrum.org/resources/accountability-responsibility-and-roles</a:t>
            </a:r>
            <a:r>
              <a:rPr lang="en-US">
                <a:solidFill>
                  <a:schemeClr val="bg1"/>
                </a:solidFill>
                <a:ea typeface="+mn-lt"/>
                <a:cs typeface="+mn-lt"/>
              </a:rPr>
              <a:t>. </a:t>
            </a:r>
          </a:p>
          <a:p>
            <a:pPr marL="514350" indent="-514350">
              <a:buAutoNum type="arabicPeriod"/>
            </a:pPr>
            <a:r>
              <a:rPr lang="en-US">
                <a:solidFill>
                  <a:schemeClr val="bg1"/>
                </a:solidFill>
                <a:ea typeface="+mn-lt"/>
                <a:cs typeface="+mn-lt"/>
              </a:rPr>
              <a:t>"The 5 Stages of the Agile Software Development Lifecyle." DiCesare, Maria. August 16, 2025. </a:t>
            </a:r>
            <a:r>
              <a:rPr lang="en-US" dirty="0">
                <a:solidFill>
                  <a:schemeClr val="bg1"/>
                </a:solidFill>
                <a:ea typeface="+mn-lt"/>
                <a:cs typeface="+mn-lt"/>
                <a:hlinkClick r:id="rId4">
                  <a:extLst>
                    <a:ext uri="{A12FA001-AC4F-418D-AE19-62706E023703}">
                      <ahyp:hlinkClr xmlns:ahyp="http://schemas.microsoft.com/office/drawing/2018/hyperlinkcolor" val="tx"/>
                    </a:ext>
                  </a:extLst>
                </a:hlinkClick>
              </a:rPr>
              <a:t>https://www.mendix.com/blog/agile-software-development-lifecycle-stages/</a:t>
            </a:r>
            <a:r>
              <a:rPr lang="en-US" dirty="0">
                <a:solidFill>
                  <a:schemeClr val="bg1"/>
                </a:solidFill>
                <a:ea typeface="+mn-lt"/>
                <a:cs typeface="+mn-lt"/>
              </a:rPr>
              <a:t>. </a:t>
            </a:r>
          </a:p>
          <a:p>
            <a:pPr marL="514350" indent="-514350">
              <a:buAutoNum type="arabicPeriod"/>
            </a:pPr>
            <a:r>
              <a:rPr lang="en-US">
                <a:solidFill>
                  <a:schemeClr val="bg1"/>
                </a:solidFill>
                <a:ea typeface="+mn-lt"/>
                <a:cs typeface="+mn-lt"/>
              </a:rPr>
              <a:t>"Waterfall Model- Software Engineering." Jan 15, 2026. </a:t>
            </a:r>
            <a:r>
              <a:rPr lang="en-US" dirty="0">
                <a:solidFill>
                  <a:schemeClr val="bg1"/>
                </a:solidFill>
                <a:ea typeface="+mn-lt"/>
                <a:cs typeface="+mn-lt"/>
                <a:hlinkClick r:id="rId5">
                  <a:extLst>
                    <a:ext uri="{A12FA001-AC4F-418D-AE19-62706E023703}">
                      <ahyp:hlinkClr xmlns:ahyp="http://schemas.microsoft.com/office/drawing/2018/hyperlinkcolor" val="tx"/>
                    </a:ext>
                  </a:extLst>
                </a:hlinkClick>
              </a:rPr>
              <a:t>https://www.geeksforgeeks.org/software-engineering/waterfall-model/</a:t>
            </a:r>
            <a:r>
              <a:rPr lang="en-US" dirty="0">
                <a:solidFill>
                  <a:schemeClr val="bg1"/>
                </a:solidFill>
                <a:ea typeface="+mn-lt"/>
                <a:cs typeface="+mn-lt"/>
              </a:rPr>
              <a:t>. </a:t>
            </a:r>
          </a:p>
          <a:p>
            <a:pPr marL="514350" indent="-514350">
              <a:buAutoNum type="arabicPeriod"/>
            </a:pPr>
            <a:r>
              <a:rPr lang="en-US">
                <a:solidFill>
                  <a:schemeClr val="bg1"/>
                </a:solidFill>
                <a:ea typeface="+mn-lt"/>
                <a:cs typeface="+mn-lt"/>
              </a:rPr>
              <a:t>"Agile vs Waterfall: Key differences, pros, and cons." Zhezherau, Alex. February 20, 2026. </a:t>
            </a:r>
            <a:r>
              <a:rPr lang="en-US" dirty="0">
                <a:solidFill>
                  <a:schemeClr val="bg1"/>
                </a:solidFill>
                <a:ea typeface="+mn-lt"/>
                <a:cs typeface="+mn-lt"/>
                <a:hlinkClick r:id="rId6">
                  <a:extLst>
                    <a:ext uri="{A12FA001-AC4F-418D-AE19-62706E023703}">
                      <ahyp:hlinkClr xmlns:ahyp="http://schemas.microsoft.com/office/drawing/2018/hyperlinkcolor" val="tx"/>
                    </a:ext>
                  </a:extLst>
                </a:hlinkClick>
              </a:rPr>
              <a:t>https://www.wrike.com/agile-guide/agile-vs-waterfall/</a:t>
            </a:r>
            <a:r>
              <a:rPr lang="en-US" dirty="0">
                <a:solidFill>
                  <a:schemeClr val="bg1"/>
                </a:solidFill>
                <a:ea typeface="+mn-lt"/>
                <a:cs typeface="+mn-lt"/>
              </a:rPr>
              <a:t>. </a:t>
            </a:r>
          </a:p>
          <a:p>
            <a:pPr marL="514350" indent="-514350">
              <a:buAutoNum type="arabicPeriod"/>
            </a:pPr>
            <a:endParaRPr lang="en-US" dirty="0">
              <a:ea typeface="+mn-lt"/>
              <a:cs typeface="+mn-lt"/>
            </a:endParaRPr>
          </a:p>
        </p:txBody>
      </p:sp>
    </p:spTree>
    <p:extLst>
      <p:ext uri="{BB962C8B-B14F-4D97-AF65-F5344CB8AC3E}">
        <p14:creationId xmlns:p14="http://schemas.microsoft.com/office/powerpoint/2010/main" val="2277271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CS 250 Final Project</vt:lpstr>
      <vt:lpstr>Agile Roles</vt:lpstr>
      <vt:lpstr>Agile Phases</vt:lpstr>
      <vt:lpstr>Waterfall</vt:lpstr>
      <vt:lpstr>Waterfall vs Agile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300</cp:revision>
  <dcterms:created xsi:type="dcterms:W3CDTF">2026-04-18T04:44:45Z</dcterms:created>
  <dcterms:modified xsi:type="dcterms:W3CDTF">2026-04-18T05:50:52Z</dcterms:modified>
</cp:coreProperties>
</file>